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Kanit Medium"/>
      <p:regular r:id="rId21"/>
      <p:bold r:id="rId22"/>
      <p:italic r:id="rId23"/>
      <p:boldItalic r:id="rId24"/>
    </p:embeddedFont>
    <p:embeddedFont>
      <p:font typeface="Prompt SemiBold"/>
      <p:regular r:id="rId25"/>
      <p:bold r:id="rId26"/>
      <p:italic r:id="rId27"/>
      <p:boldItalic r:id="rId28"/>
    </p:embeddedFont>
    <p:embeddedFont>
      <p:font typeface="Prompt"/>
      <p:regular r:id="rId29"/>
      <p:bold r:id="rId30"/>
      <p:italic r:id="rId31"/>
      <p:boldItalic r:id="rId32"/>
    </p:embeddedFont>
    <p:embeddedFont>
      <p:font typeface="Kanit Light"/>
      <p:regular r:id="rId33"/>
      <p:bold r:id="rId34"/>
      <p:italic r:id="rId35"/>
      <p:boldItalic r:id="rId36"/>
    </p:embeddedFont>
    <p:embeddedFont>
      <p:font typeface="Kani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Kanit-boldItalic.fntdata"/><Relationship Id="rId20" Type="http://schemas.openxmlformats.org/officeDocument/2006/relationships/slide" Target="slides/slide15.xml"/><Relationship Id="rId22" Type="http://schemas.openxmlformats.org/officeDocument/2006/relationships/font" Target="fonts/KanitMedium-bold.fntdata"/><Relationship Id="rId21" Type="http://schemas.openxmlformats.org/officeDocument/2006/relationships/font" Target="fonts/KanitMedium-regular.fntdata"/><Relationship Id="rId24" Type="http://schemas.openxmlformats.org/officeDocument/2006/relationships/font" Target="fonts/KanitMedium-boldItalic.fntdata"/><Relationship Id="rId23" Type="http://schemas.openxmlformats.org/officeDocument/2006/relationships/font" Target="fonts/Kanit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mptSemiBold-bold.fntdata"/><Relationship Id="rId25" Type="http://schemas.openxmlformats.org/officeDocument/2006/relationships/font" Target="fonts/PromptSemiBold-regular.fntdata"/><Relationship Id="rId28" Type="http://schemas.openxmlformats.org/officeDocument/2006/relationships/font" Target="fonts/PromptSemiBold-boldItalic.fntdata"/><Relationship Id="rId27" Type="http://schemas.openxmlformats.org/officeDocument/2006/relationships/font" Target="fonts/Prompt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mp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mpt-italic.fntdata"/><Relationship Id="rId30" Type="http://schemas.openxmlformats.org/officeDocument/2006/relationships/font" Target="fonts/Prompt-bold.fntdata"/><Relationship Id="rId11" Type="http://schemas.openxmlformats.org/officeDocument/2006/relationships/slide" Target="slides/slide6.xml"/><Relationship Id="rId33" Type="http://schemas.openxmlformats.org/officeDocument/2006/relationships/font" Target="fonts/KanitLight-regular.fntdata"/><Relationship Id="rId10" Type="http://schemas.openxmlformats.org/officeDocument/2006/relationships/slide" Target="slides/slide5.xml"/><Relationship Id="rId32" Type="http://schemas.openxmlformats.org/officeDocument/2006/relationships/font" Target="fonts/Prompt-boldItalic.fntdata"/><Relationship Id="rId13" Type="http://schemas.openxmlformats.org/officeDocument/2006/relationships/slide" Target="slides/slide8.xml"/><Relationship Id="rId35" Type="http://schemas.openxmlformats.org/officeDocument/2006/relationships/font" Target="fonts/KanitLight-italic.fntdata"/><Relationship Id="rId12" Type="http://schemas.openxmlformats.org/officeDocument/2006/relationships/slide" Target="slides/slide7.xml"/><Relationship Id="rId34" Type="http://schemas.openxmlformats.org/officeDocument/2006/relationships/font" Target="fonts/KanitLight-bold.fntdata"/><Relationship Id="rId15" Type="http://schemas.openxmlformats.org/officeDocument/2006/relationships/slide" Target="slides/slide10.xml"/><Relationship Id="rId37" Type="http://schemas.openxmlformats.org/officeDocument/2006/relationships/font" Target="fonts/Kanit-regular.fntdata"/><Relationship Id="rId14" Type="http://schemas.openxmlformats.org/officeDocument/2006/relationships/slide" Target="slides/slide9.xml"/><Relationship Id="rId36" Type="http://schemas.openxmlformats.org/officeDocument/2006/relationships/font" Target="fonts/KanitLight-boldItalic.fntdata"/><Relationship Id="rId17" Type="http://schemas.openxmlformats.org/officeDocument/2006/relationships/slide" Target="slides/slide12.xml"/><Relationship Id="rId39" Type="http://schemas.openxmlformats.org/officeDocument/2006/relationships/font" Target="fonts/Kanit-italic.fntdata"/><Relationship Id="rId16" Type="http://schemas.openxmlformats.org/officeDocument/2006/relationships/slide" Target="slides/slide11.xml"/><Relationship Id="rId38" Type="http://schemas.openxmlformats.org/officeDocument/2006/relationships/font" Target="fonts/Kani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32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11" Type="http://schemas.openxmlformats.org/officeDocument/2006/relationships/image" Target="../media/image19.png"/><Relationship Id="rId10" Type="http://schemas.openxmlformats.org/officeDocument/2006/relationships/image" Target="../media/image26.png"/><Relationship Id="rId12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31.png"/><Relationship Id="rId8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3.png"/><Relationship Id="rId5" Type="http://schemas.openxmlformats.org/officeDocument/2006/relationships/image" Target="../media/image30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9" Type="http://schemas.openxmlformats.org/officeDocument/2006/relationships/image" Target="../media/image40.png"/><Relationship Id="rId5" Type="http://schemas.openxmlformats.org/officeDocument/2006/relationships/image" Target="../media/image36.png"/><Relationship Id="rId6" Type="http://schemas.openxmlformats.org/officeDocument/2006/relationships/image" Target="../media/image15.png"/><Relationship Id="rId7" Type="http://schemas.openxmlformats.org/officeDocument/2006/relationships/image" Target="../media/image29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37.png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28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25.png"/><Relationship Id="rId8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Relationship Id="rId9" Type="http://schemas.openxmlformats.org/officeDocument/2006/relationships/image" Target="../media/image34.png"/><Relationship Id="rId5" Type="http://schemas.openxmlformats.org/officeDocument/2006/relationships/image" Target="../media/image42.png"/><Relationship Id="rId6" Type="http://schemas.openxmlformats.org/officeDocument/2006/relationships/image" Target="../media/image38.png"/><Relationship Id="rId7" Type="http://schemas.openxmlformats.org/officeDocument/2006/relationships/image" Target="../media/image46.png"/><Relationship Id="rId8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6550" y="2052637"/>
            <a:ext cx="64389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515677" y="2528887"/>
            <a:ext cx="516064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Nan Beyond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38550" y="3452812"/>
            <a:ext cx="4914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6D47"/>
                </a:solidFill>
                <a:latin typeface="Kanit Medium"/>
                <a:ea typeface="Kanit Medium"/>
                <a:cs typeface="Kanit Medium"/>
                <a:sym typeface="Kanit Medium"/>
              </a:rPr>
              <a:t>ปลดล็อกศักยภาพการท่องเที่ยวน่าน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4A6D47"/>
                </a:solidFill>
                <a:latin typeface="Kanit Medium"/>
                <a:ea typeface="Kanit Medium"/>
                <a:cs typeface="Kanit Medium"/>
                <a:sym typeface="Kanit Medium"/>
              </a:rPr>
              <a:t> ด้วย AI ขับเคลื่อนประสบการณ์ตามฤดูกาล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571500"/>
            <a:ext cx="5550693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ความท้าทายที่ 1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458640"/>
            <a:ext cx="555069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7A4A28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การกระจุกตัวของนักท่องเที่ยว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700" u="none" cap="none" strike="noStrike">
                <a:solidFill>
                  <a:srgbClr val="7A4A28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 (Overcrowding &amp; Seasonality)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677840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นักท่องเที่ยว </a:t>
            </a:r>
            <a:r>
              <a:rPr b="0" i="0" lang="en-US" sz="1650" u="none" cap="none" strike="noStrike">
                <a:solidFill>
                  <a:srgbClr val="4A4A4A"/>
                </a:solidFill>
                <a:latin typeface="Kanit"/>
                <a:ea typeface="Kanit"/>
                <a:cs typeface="Kanit"/>
                <a:sym typeface="Kanit"/>
              </a:rPr>
              <a:t>85-100%</a:t>
            </a:r>
            <a:r>
              <a:rPr b="0" i="0" lang="en-US" sz="165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 มักกระจุกตัวอยู่ในช่วงฤดูหนาว (ธ.ค. - ก.พ.) ทำให้ที่พักเต็มและแออัด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4500562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ในขณะที่ฤดูกาลอื่นกลับซบเซา และเมื่อเศรษฐกิจผันผวน แหล่งท่องเที่ยวที่อยู่ห่างไกลมักได้รับผลกระทบอย่างหนัก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8121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223361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Search Engine มักดึงเฉพาะ </a:t>
            </a:r>
            <a:r>
              <a:rPr b="0" i="0" lang="en-US" sz="1500" u="none" cap="none" strike="noStrike">
                <a:solidFill>
                  <a:srgbClr val="4A4A4A"/>
                </a:solidFill>
                <a:latin typeface="Kanit"/>
                <a:ea typeface="Kanit"/>
                <a:cs typeface="Kanit"/>
                <a:sym typeface="Kanit"/>
              </a:rPr>
              <a:t>"สถานที่ยอดนิยม"</a:t>
            </a: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 มาแนะนำ โดยไม่ประเมินสภาพอากาศของเดือนนั้นๆ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2947987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นักท่องเที่ยวไปแล้วได้ประสบการณ์ที่ไม่ตรงกับภาพจำ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3424237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ทำให้ขาดความมั่นใจในการเดินทางไปเที่ยวน่านในฤดูอื่น (Low Season)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4186237"/>
            <a:ext cx="5000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เกิดเป็นความเข้าใจผิดว่า น่านเที่ยวได้แค่หน้าหนาว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8121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ความท้าทายที่ 2: ข้อมูลไม่ตรงปก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8608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6233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24337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4937" y="2081212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6334125" y="2543175"/>
            <a:ext cx="55506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A4A28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"มีเวลาน้อย แต่อยากได้ทริปที่ตรงปก"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334125" y="309562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"/>
                <a:ea typeface="Kanit"/>
                <a:cs typeface="Kanit"/>
                <a:sym typeface="Kanit"/>
              </a:rPr>
              <a:t>คุณมิ้นท์ (ตัวแทน Persona) อายุ 27 ปี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334125" y="35242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มักหาข้อมูลผ่าน Google และ Social Media ซึ่งเน้น </a:t>
            </a:r>
            <a:r>
              <a:rPr b="0" i="1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ความนิยม</a:t>
            </a: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 มากกว่า </a:t>
            </a:r>
            <a:r>
              <a:rPr b="0" i="1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ความเหมาะสมตามฤดูกาล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334125" y="423862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เธอต้องการแผนเที่ยวที่เข้ากับสภาพอากาศ หลีกเลี่ยงจุดแออัด และได้สัมผัสวิถีชุมชนอย่างแท้จริง โดยไม่ต้องเสียเวลาหาข้อมูลเองหลายชั่วโมง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1137" y="2157412"/>
            <a:ext cx="13525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User Insight: นักเดินทางยุคใหม่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31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431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43150"/>
            <a:ext cx="3492549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581024" y="3871912"/>
            <a:ext cx="3473500" cy="38100"/>
          </a:xfrm>
          <a:prstGeom prst="rect">
            <a:avLst/>
          </a:prstGeom>
          <a:solidFill>
            <a:srgbClr val="4A6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866775" y="3495675"/>
            <a:ext cx="195024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A4A28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Season-Aware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66775" y="404812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จัดแผนการเดินทางโดยจับคู่สถานที่กับบริบทของเดือนและสภาพอากาศ เพื่อประสบการณ์ที่ตรงปกที่สุด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4359324" y="3871912"/>
            <a:ext cx="3473500" cy="38100"/>
          </a:xfrm>
          <a:prstGeom prst="rect">
            <a:avLst/>
          </a:prstGeom>
          <a:solidFill>
            <a:srgbClr val="4A6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4645074" y="3495675"/>
            <a:ext cx="241030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A4A28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Adaptive Planner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645074" y="404812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แผนเที่ยวยืดหยุ่นได้ ปรับแผนสำรองได้ทันทีเมื่อเกิดเหตุฉุกเฉิน เช่น ฝนตก หรือร้านปิดกะทันหัน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8137623" y="3871912"/>
            <a:ext cx="3473500" cy="38100"/>
          </a:xfrm>
          <a:prstGeom prst="rect">
            <a:avLst/>
          </a:prstGeom>
          <a:solidFill>
            <a:srgbClr val="4A6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8423374" y="3495675"/>
            <a:ext cx="185023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A4A28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Hidden Gems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423374" y="404812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กระจายรายได้สู่ชุมชน ด้วยระบบ AI Storytelling แนะนำสถานที่น่าสนใจที่ไม่ค่อยมีใครรู้จัก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194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8194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8194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โซลูชัน: Nan Beyond AI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71500" y="571500"/>
            <a:ext cx="5550693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ทำไมต้องใช้ AI ?</a:t>
            </a:r>
            <a:endParaRPr/>
          </a:p>
        </p:txBody>
      </p:sp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2096690"/>
            <a:ext cx="5550693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7A4A28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ไม่ใช่แค่ Chatbot ทั่วไป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2801540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AI ของเราทำงานเป็น </a:t>
            </a:r>
            <a:r>
              <a:rPr b="0" i="0" lang="en-US" sz="1650" u="none" cap="none" strike="noStrike">
                <a:solidFill>
                  <a:srgbClr val="4A4A4A"/>
                </a:solidFill>
                <a:latin typeface="Kanit"/>
                <a:ea typeface="Kanit"/>
                <a:cs typeface="Kanit"/>
                <a:sym typeface="Kanit"/>
              </a:rPr>
              <a:t>Intelligent Recommendation Engine</a:t>
            </a:r>
            <a:r>
              <a:rPr b="0" i="0" lang="en-US" sz="165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 ที่ประมวลผลข้อมูลหลายมิติพร้อมกัน: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4862512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ที่สำคัญ AI จะ </a:t>
            </a:r>
            <a:r>
              <a:rPr b="0" i="0" lang="en-US" sz="1650" u="none" cap="none" strike="noStrike">
                <a:solidFill>
                  <a:srgbClr val="7A4A28"/>
                </a:solidFill>
                <a:latin typeface="Kanit Medium"/>
                <a:ea typeface="Kanit Medium"/>
                <a:cs typeface="Kanit Medium"/>
                <a:sym typeface="Kanit Medium"/>
              </a:rPr>
              <a:t>"อธิบายเหตุผล"</a:t>
            </a:r>
            <a:r>
              <a:rPr b="0" i="0" lang="en-US" sz="165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 ว่าทำไมสถานที่นี้จึงเหมาะสมที่สุดสำหรับคุณในเวลานั้น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76325" y="38147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143000" y="381476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เดือนที่เดินทาง &amp; สภาพอากาศ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76325" y="410051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143000" y="410051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เทศกาลและกิจกรรมท้องถิ่น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076325" y="438626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•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143000" y="438626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ความชอบส่วนตัว &amp; ระยะเวลา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9775"/>
            <a:ext cx="3492549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09775"/>
            <a:ext cx="3492549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09775"/>
            <a:ext cx="3492549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2200275"/>
            <a:ext cx="31115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0299" y="2200275"/>
            <a:ext cx="31115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8599" y="2200275"/>
            <a:ext cx="311154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762000" y="4295775"/>
            <a:ext cx="32671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หน้าฝน (พ.ค. - ต.ค.)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62000" y="4752975"/>
            <a:ext cx="31115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ชูจุดเด่นนาข้าวเขียวขจี อ.ปัว หมอกหลังฝน การพักโฮมสเตย์ และกิจกรรมวิถีชุมชน เดินทางง่าย ไม่ต้องเสี่ยงอันตรายบนดอยไกลๆ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4540299" y="4295775"/>
            <a:ext cx="32671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หน้าหนาว (พ.ย. - ก.พ.)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4540299" y="4752975"/>
            <a:ext cx="31115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นาข้าวเปลี่ยนเป็นสีทอง ทัศนวิสัยดีมาก อากาศหนาวจัด เหมาะสำหรับชมทะเลหมอก ขับรถถนนลอยฟ้า และกางเต็นท์ดูดาว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318599" y="4295775"/>
            <a:ext cx="326712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หน้าร้อน (มี.ค. - พ.ค.)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318599" y="4752975"/>
            <a:ext cx="311154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ท้องฟ้าโปร่ง ถ่ายรูปสถาปัตยกรรมสวย เน้นท่องเที่ยวเชิงวัฒนธรรมในตัวเมือง เช่น วัดภูมินทร์ คาเฟ่ และเดินเล่นถนนคนเดิน</a:t>
            </a:r>
            <a:endParaRPr/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2200275"/>
            <a:ext cx="962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40299" y="2200275"/>
            <a:ext cx="311154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18599" y="2200275"/>
            <a:ext cx="311154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ประสบการณ์ที่เหมาะสมกับบริบทของแต่ละเดือน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09712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71500" y="2286000"/>
            <a:ext cx="55506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A4A28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ฟีเจอร์หลักเพื่อนักท่องเที่ยว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5124450"/>
            <a:ext cx="5286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7A4A28"/>
                </a:solidFill>
                <a:latin typeface="Kanit Light"/>
                <a:ea typeface="Kanit Light"/>
                <a:cs typeface="Kanit Light"/>
                <a:sym typeface="Kanit Light"/>
              </a:rPr>
              <a:t>*พร้อมต่อยอดระบบการจองร้านอาหารและที่พักในอนาคต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857250" y="283845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"/>
                <a:ea typeface="Kanit"/>
                <a:cs typeface="Kanit"/>
                <a:sym typeface="Kanit"/>
              </a:rPr>
              <a:t>Personalized Itinerary:</a:t>
            </a: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 สร้างแผนการเดินทางเฉพาะบุคคลที่อิงตามฤดูกาลจริง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857250" y="360045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"/>
                <a:ea typeface="Kanit"/>
                <a:cs typeface="Kanit"/>
                <a:sym typeface="Kanit"/>
              </a:rPr>
              <a:t>Explainable AI:</a:t>
            </a: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 มีระบบอธิบายเหตุผลประกอบการแนะนำสถานที่ เพิ่มความมั่นใจในการตัดสินใจ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857250" y="436245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"/>
                <a:ea typeface="Kanit"/>
                <a:cs typeface="Kanit"/>
                <a:sym typeface="Kanit"/>
              </a:rPr>
              <a:t>Local Integration:</a:t>
            </a: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 เชื่อมโยงข้อมูลจากภาครัฐและชุมชน เพื่อข้อมูลที่สดใหม่และอัปเดตเสมอ</a:t>
            </a:r>
            <a:endParaRPr/>
          </a:p>
        </p:txBody>
      </p:sp>
      <p:pic>
        <p:nvPicPr>
          <p:cNvPr descr="image.png" id="194" name="Google Shape;19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0" y="2990850"/>
            <a:ext cx="4286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7567136" y="3752850"/>
            <a:ext cx="282035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A4A28"/>
                </a:solidFill>
                <a:latin typeface="Prompt"/>
                <a:ea typeface="Prompt"/>
                <a:cs typeface="Prompt"/>
                <a:sym typeface="Prompt"/>
              </a:rPr>
              <a:t>[ พื้นที่สำหรับ UI Mockup ]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7553325" y="4191000"/>
            <a:ext cx="2847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ใส่ภาพ: ภาพหน้าจอแอปพลิเคชัน (Mobile App)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 แสดงหน้าจอแชท AI หรือ หน้าแผนการเดินทาง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App Prototype Concept</a:t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765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385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0055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5425"/>
            <a:ext cx="11049000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1824037" y="5629275"/>
            <a:ext cx="8543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เจาะกลุ่มคนรุ่นใหม่ที่มองหาการท่องเที่ยวเชิงสร้างสรรค์ สอดคล้องกับนโยบาย "นักเดินทางคุณภาพ" ของ อพท. น่าน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ขนาดและศักยภาพของตลาด (Market Size)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0275"/>
            <a:ext cx="3492549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00275"/>
            <a:ext cx="3492549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00275"/>
            <a:ext cx="3492549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/>
          <p:nvPr/>
        </p:nvSpPr>
        <p:spPr>
          <a:xfrm>
            <a:off x="581024" y="3871912"/>
            <a:ext cx="3473500" cy="38100"/>
          </a:xfrm>
          <a:prstGeom prst="rect">
            <a:avLst/>
          </a:prstGeom>
          <a:solidFill>
            <a:srgbClr val="4A6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866775" y="3352800"/>
            <a:ext cx="150018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A4A28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นักท่องเที่ยว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66775" y="3905250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ได้แผนการเดินทางที่ตรงปก สวยงาม (Visual &amp; Inspiring) และมี Adaptive Planner ช่วยปรับแผนเมื่อเกิดเหตุฉุกเฉิน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4359324" y="3871912"/>
            <a:ext cx="3473500" cy="38100"/>
          </a:xfrm>
          <a:prstGeom prst="rect">
            <a:avLst/>
          </a:prstGeom>
          <a:solidFill>
            <a:srgbClr val="4A6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645074" y="3352800"/>
            <a:ext cx="17802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A4A28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ชุมชน &amp; ธุรกิจ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4645074" y="390525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ขยายโอกาสให้ธุรกิจท้องถิ่นขนาดเล็กเข้าถึงนักท่องเที่ยวคุณภาพ ผ่าน AI Storytelling ที่แนะนำ Hidden Gems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8137623" y="3871912"/>
            <a:ext cx="3473500" cy="38100"/>
          </a:xfrm>
          <a:prstGeom prst="rect">
            <a:avLst/>
          </a:prstGeom>
          <a:solidFill>
            <a:srgbClr val="4A6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8423374" y="3352800"/>
            <a:ext cx="150018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A4A28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หน่วยงานรัฐ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8423374" y="3905250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ตอบสนองวิสัยทัศน์ Smart Tourism และช่วยเป็นเครื่องมือจัดการ Big Data ด้านพฤติกรรมนักท่องเที่ยว</a:t>
            </a:r>
            <a:endParaRPr/>
          </a:p>
        </p:txBody>
      </p:sp>
      <p:pic>
        <p:nvPicPr>
          <p:cNvPr descr="image.png" id="226" name="Google Shape;22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765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6765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6765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คุณค่าสู่ผู้มีส่วนได้ส่วนเสีย (Stakeholders Value)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8121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857250" y="2081212"/>
            <a:ext cx="50006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"/>
                <a:ea typeface="Kanit"/>
                <a:cs typeface="Kanit"/>
                <a:sym typeface="Kanit"/>
              </a:rPr>
              <a:t>ปัจจุบัน (Hackathon):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 พิสูจน์แนวคิดการออกแบบ (Prototype) ทดสอบประสบการณ์ผู้ใช้ และตรวจสอบความแม่นยำของ AI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857250" y="3128962"/>
            <a:ext cx="50006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"/>
                <a:ea typeface="Kanit"/>
                <a:cs typeface="Kanit"/>
                <a:sym typeface="Kanit"/>
              </a:rPr>
              <a:t>อนาคต (Future Model):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 เปิดลงทะเบียนธุรกิจท้องถิ่น และจัดแพ็กเกจโปรโมชันสำหรับร้านอาหาร คาเฟ่ โฮมสเตย์ในช่วง Low Season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857250" y="4176712"/>
            <a:ext cx="50006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"/>
                <a:ea typeface="Kanit"/>
                <a:cs typeface="Kanit"/>
                <a:sym typeface="Kanit"/>
              </a:rPr>
              <a:t>ผลกระทบเชิงบวก (Impact):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 ลดความเสี่ยงทางเศรษฐกิจจากราคาน้ำมัน กระจายรายได้สู่ชุมชน และส่งเสริมการท่องเที่ยวตลอด 12 เดือน</a:t>
            </a:r>
            <a:endParaRPr/>
          </a:p>
        </p:txBody>
      </p:sp>
      <p:pic>
        <p:nvPicPr>
          <p:cNvPr descr="image.png" id="239" name="Google Shape;23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8121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กลยุทธ์ทางธุรกิจ (Business Strategy)</a:t>
            </a:r>
            <a:endParaRPr/>
          </a:p>
        </p:txBody>
      </p:sp>
      <p:pic>
        <p:nvPicPr>
          <p:cNvPr descr="image.png" id="241" name="Google Shape;24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1931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670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14812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31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43150"/>
            <a:ext cx="349254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43150"/>
            <a:ext cx="3492549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/>
          <p:nvPr/>
        </p:nvSpPr>
        <p:spPr>
          <a:xfrm>
            <a:off x="581024" y="3871912"/>
            <a:ext cx="3473500" cy="38100"/>
          </a:xfrm>
          <a:prstGeom prst="rect">
            <a:avLst/>
          </a:prstGeom>
          <a:solidFill>
            <a:srgbClr val="4A6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866775" y="3495675"/>
            <a:ext cx="250031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A4A28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Low Season Boost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866775" y="404812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อัตราการเข้าพักและระยะเวลาพำนักเฉลี่ยในจังหวัดน่าน เพิ่มสูงขึ้นในช่วง Green Season หรือ Low Season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4359324" y="3871912"/>
            <a:ext cx="3473500" cy="38100"/>
          </a:xfrm>
          <a:prstGeom prst="rect">
            <a:avLst/>
          </a:prstGeom>
          <a:solidFill>
            <a:srgbClr val="4A6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4645074" y="3495675"/>
            <a:ext cx="131016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A4A28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Adoption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4645074" y="404812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จำนวนแผนการท่องเที่ยวที่ถูกสร้างขึ้นผ่านระบบ AI สะท้อนถึงการยอมรับเครื่องมือของนักท่องเที่ยว</a:t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>
            <a:off x="8137623" y="3871912"/>
            <a:ext cx="3473500" cy="38100"/>
          </a:xfrm>
          <a:prstGeom prst="rect">
            <a:avLst/>
          </a:prstGeom>
          <a:solidFill>
            <a:srgbClr val="4A6D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 txBox="1"/>
          <p:nvPr/>
        </p:nvSpPr>
        <p:spPr>
          <a:xfrm>
            <a:off x="8423374" y="3495675"/>
            <a:ext cx="15601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7A4A28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Satisfaction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8423374" y="404812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ระดับความพึงพอใจของผู้ใช้งาน ที่ได้สัมผัสประสบการณ์ตรงกับฤดูกาลและความคาดหวัง</a:t>
            </a:r>
            <a:endParaRPr/>
          </a:p>
        </p:txBody>
      </p:sp>
      <p:pic>
        <p:nvPicPr>
          <p:cNvPr descr="image.png" id="261" name="Google Shape;26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194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81940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8194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ตัวชี้วัดความสำเร็จ (KPIs)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295275" y="2514600"/>
            <a:ext cx="1160145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ขอบคุณครับ / Q&amp;A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571500" y="385762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A4A28"/>
                </a:solidFill>
                <a:latin typeface="Kanit Light"/>
                <a:ea typeface="Kanit Light"/>
                <a:cs typeface="Kanit Light"/>
                <a:sym typeface="Kanit Light"/>
              </a:rPr>
              <a:t>Nan Beyond AI - ปลดล็อกศักยภาพการท่องเที่ยวน่าน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/>
          <p:cNvSpPr/>
          <p:nvPr/>
        </p:nvSpPr>
        <p:spPr>
          <a:xfrm>
            <a:off x="571500" y="14954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571500" y="226695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571500" y="32099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571500" y="39814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571500" y="47529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571500" y="2257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571500" y="22574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571500" y="3200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571500" y="32004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571500" y="3971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571500" y="3971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571500" y="4743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571500" y="4743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571500" y="5514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571500" y="5514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2" name="Google Shape;29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6"/>
          <p:cNvSpPr txBox="1"/>
          <p:nvPr/>
        </p:nvSpPr>
        <p:spPr>
          <a:xfrm>
            <a:off x="1666875" y="16454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https://img.kapook.com/u/2020/pattra/pattravel202008/doisamerdao05_1.jpg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1666875" y="18788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Kanit Light"/>
                <a:ea typeface="Kanit Light"/>
                <a:cs typeface="Kanit Light"/>
                <a:sym typeface="Kanit Light"/>
              </a:rPr>
              <a:t>travel.kapook.com</a:t>
            </a:r>
            <a:endParaRPr/>
          </a:p>
        </p:txBody>
      </p:sp>
      <p:pic>
        <p:nvPicPr>
          <p:cNvPr descr="image.png" id="295" name="Google Shape;29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95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6"/>
          <p:cNvSpPr txBox="1"/>
          <p:nvPr/>
        </p:nvSpPr>
        <p:spPr>
          <a:xfrm>
            <a:off x="1666875" y="240982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https://hillkoff.com/wp-content/uploads/2025/04/%E0%B9%80%E0%B8%81%E0%B8%A9%E0%B8%95%E0%B8%A3%E0%B8%81%E0%B8%A3%E0%B8%9A%E0%B9%89%E0%B8%B2%E0%B8%99%E0%B9%81%E0%B8%A1%E0%B9%88%E0%B8%AA%E0%B8%AD%E0%B8%87-14-1024x1024.jpg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1666875" y="282892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Kanit Light"/>
                <a:ea typeface="Kanit Light"/>
                <a:cs typeface="Kanit Light"/>
                <a:sym typeface="Kanit Light"/>
              </a:rPr>
              <a:t>hillkoff.com</a:t>
            </a:r>
            <a:endParaRPr/>
          </a:p>
        </p:txBody>
      </p:sp>
      <p:pic>
        <p:nvPicPr>
          <p:cNvPr descr="image.png" id="298" name="Google Shape;29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528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1666875" y="33599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https://img.magnific.com/free-photo/blogger-asian-backpacker-woman-record-vlog-video-top-mountain_7861-1393.jpg?semt=ais_hybrid&amp;w=740&amp;q=80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1666875" y="35933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Kanit Light"/>
                <a:ea typeface="Kanit Light"/>
                <a:cs typeface="Kanit Light"/>
                <a:sym typeface="Kanit Light"/>
              </a:rPr>
              <a:t>www.magnific.com</a:t>
            </a:r>
            <a:endParaRPr/>
          </a:p>
        </p:txBody>
      </p:sp>
      <p:pic>
        <p:nvPicPr>
          <p:cNvPr descr="image.png" id="301" name="Google Shape;301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243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6"/>
          <p:cNvSpPr txBox="1"/>
          <p:nvPr/>
        </p:nvSpPr>
        <p:spPr>
          <a:xfrm>
            <a:off x="1666875" y="41314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https://paikondieow.com/wp-content/uploads/2021/09/2-4.jpg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1666875" y="43648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Kanit Light"/>
                <a:ea typeface="Kanit Light"/>
                <a:cs typeface="Kanit Light"/>
                <a:sym typeface="Kanit Light"/>
              </a:rPr>
              <a:t>paikondieow.com</a:t>
            </a:r>
            <a:endParaRPr/>
          </a:p>
        </p:txBody>
      </p:sp>
      <p:pic>
        <p:nvPicPr>
          <p:cNvPr descr="image.png" id="304" name="Google Shape;304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958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 txBox="1"/>
          <p:nvPr/>
        </p:nvSpPr>
        <p:spPr>
          <a:xfrm>
            <a:off x="1666875" y="49029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https://apis.airportthai.co.th/microsite/images/post/ckeditor/image-20221021174637-43.jpeg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1666875" y="51363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Kanit Light"/>
                <a:ea typeface="Kanit Light"/>
                <a:cs typeface="Kanit Light"/>
                <a:sym typeface="Kanit Light"/>
              </a:rPr>
              <a:t>suvarnabhumi.airportthai.co.th</a:t>
            </a:r>
            <a:endParaRPr/>
          </a:p>
        </p:txBody>
      </p:sp>
      <p:pic>
        <p:nvPicPr>
          <p:cNvPr descr="image.png" id="307" name="Google Shape;307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6673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1666875" y="56745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https://www.finearts.go.th/uploads/tinymce/source/13/Knowledge_6/0600/01.jpg</a:t>
            </a:r>
            <a:endParaRPr/>
          </a:p>
        </p:txBody>
      </p:sp>
      <p:sp>
        <p:nvSpPr>
          <p:cNvPr id="309" name="Google Shape;309;p26"/>
          <p:cNvSpPr txBox="1"/>
          <p:nvPr/>
        </p:nvSpPr>
        <p:spPr>
          <a:xfrm>
            <a:off x="1666875" y="59078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Kanit Light"/>
                <a:ea typeface="Kanit Light"/>
                <a:cs typeface="Kanit Light"/>
                <a:sym typeface="Kanit Light"/>
              </a:rPr>
              <a:t>www.finearts.go.th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7"/>
          <p:cNvSpPr/>
          <p:nvPr/>
        </p:nvSpPr>
        <p:spPr>
          <a:xfrm>
            <a:off x="2738437" y="3124200"/>
            <a:ext cx="67151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2738437" y="3886200"/>
            <a:ext cx="6715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2738437" y="3886200"/>
            <a:ext cx="6715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9" name="Google Shape;31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8437" y="32670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 txBox="1"/>
          <p:nvPr/>
        </p:nvSpPr>
        <p:spPr>
          <a:xfrm>
            <a:off x="3833812" y="3274218"/>
            <a:ext cx="56197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https://qsds.go.th/newqssclei/wp-content/uploads/sites/88/2018/11/kdk7ibfkhbg9ij959bk5i.jpg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3833812" y="3507581"/>
            <a:ext cx="5619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Kanit Light"/>
                <a:ea typeface="Kanit Light"/>
                <a:cs typeface="Kanit Light"/>
                <a:sym typeface="Kanit Light"/>
              </a:rPr>
              <a:t>qsds.go.th</a:t>
            </a:r>
            <a:endParaRPr/>
          </a:p>
        </p:txBody>
      </p:sp>
      <p:pic>
        <p:nvPicPr>
          <p:cNvPr descr="image.png" id="322" name="Google Shape;32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38437" y="4038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 txBox="1"/>
          <p:nvPr/>
        </p:nvSpPr>
        <p:spPr>
          <a:xfrm>
            <a:off x="3833812" y="4045743"/>
            <a:ext cx="56197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https://cms.dmpcdn.com/travel/2022/07/17/97d69920-0566-11ed-a60a-4deaffa99f3c_webp_original.jpg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3833812" y="4279106"/>
            <a:ext cx="5619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Kanit Light"/>
                <a:ea typeface="Kanit Light"/>
                <a:cs typeface="Kanit Light"/>
                <a:sym typeface="Kanit Ligh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Kanit Light"/>
                <a:ea typeface="Kanit Light"/>
                <a:cs typeface="Kanit Light"/>
                <a:sym typeface="Kanit Light"/>
              </a:rPr>
              <a:t>travel.trueid.net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2A4029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